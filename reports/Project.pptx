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DM Sans" pitchFamily="2" charset="0"/>
      <p:regular r:id="rId13"/>
      <p:bold r:id="rId14"/>
      <p:italic r:id="rId15"/>
      <p:boldItalic r:id="rId16"/>
    </p:embeddedFont>
    <p:embeddedFont>
      <p:font typeface="DM Sans Bold" charset="0"/>
      <p:regular r:id="rId17"/>
    </p:embeddedFont>
    <p:embeddedFont>
      <p:font typeface="Libre Baskerville" panose="02000000000000000000" pitchFamily="2" charset="0"/>
      <p:regular r:id="rId18"/>
      <p:bold r:id="rId19"/>
      <p:italic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D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9199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4055" y="2044515"/>
            <a:ext cx="9443579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Predictive Customer Churn Model for a Telecom Company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3" y="4132720"/>
            <a:ext cx="10868745" cy="715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July 2026</a:t>
            </a:r>
            <a:endParaRPr lang="en-US" sz="130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Presented by: </a:t>
            </a:r>
            <a:r>
              <a:rPr lang="en-US" sz="13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Sisira T S</a:t>
            </a:r>
            <a:endParaRPr lang="en-US" sz="13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B3909F-66EA-E534-BC86-9DB84B72FC82}"/>
              </a:ext>
            </a:extLst>
          </p:cNvPr>
          <p:cNvSpPr/>
          <p:nvPr/>
        </p:nvSpPr>
        <p:spPr>
          <a:xfrm>
            <a:off x="10928395" y="6419461"/>
            <a:ext cx="1203649" cy="363894"/>
          </a:xfrm>
          <a:prstGeom prst="rect">
            <a:avLst/>
          </a:prstGeom>
          <a:solidFill>
            <a:srgbClr val="FFFDFA"/>
          </a:solidFill>
          <a:ln>
            <a:solidFill>
              <a:srgbClr val="FFFD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849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2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Problem Statement</a:t>
            </a:r>
            <a:endParaRPr lang="en-US" sz="3250" dirty="0"/>
          </a:p>
        </p:txBody>
      </p:sp>
      <p:sp>
        <p:nvSpPr>
          <p:cNvPr id="4" name="Text 2"/>
          <p:cNvSpPr/>
          <p:nvPr/>
        </p:nvSpPr>
        <p:spPr>
          <a:xfrm>
            <a:off x="707710" y="1388566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6380" y="1225185"/>
            <a:ext cx="10503052" cy="1889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Customer churn is a major challenge in the telecom industry, leading to significant revenue loss and reduced customer loyalty.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Retaining existing customers is more cost-effective than acquiring new ones, making churn prediction an important business objective.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Traditional approaches identify customer churn only after customers have already left, limiting opportunities for timely intervention.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There is a need for an intelligent, data-driven solution that can accurately identify customers at risk of churn and support proactive retention strategies.</a:t>
            </a:r>
            <a:endParaRPr lang="en-IN" sz="1600" b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A96DD92-B603-7033-1535-A968FC0E6C4B}"/>
              </a:ext>
            </a:extLst>
          </p:cNvPr>
          <p:cNvSpPr/>
          <p:nvPr/>
        </p:nvSpPr>
        <p:spPr>
          <a:xfrm>
            <a:off x="10928395" y="6419461"/>
            <a:ext cx="1203649" cy="363894"/>
          </a:xfrm>
          <a:prstGeom prst="rect">
            <a:avLst/>
          </a:prstGeom>
          <a:solidFill>
            <a:srgbClr val="FFFDFA"/>
          </a:solidFill>
          <a:ln>
            <a:solidFill>
              <a:srgbClr val="FFFD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E27E57-1F40-DD1D-FA49-656394838B2D}"/>
              </a:ext>
            </a:extLst>
          </p:cNvPr>
          <p:cNvSpPr txBox="1"/>
          <p:nvPr/>
        </p:nvSpPr>
        <p:spPr>
          <a:xfrm>
            <a:off x="516401" y="3443014"/>
            <a:ext cx="6097554" cy="59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</a:pPr>
            <a:r>
              <a:rPr lang="en-US" sz="3250" dirty="0">
                <a:solidFill>
                  <a:srgbClr val="5C4E3D"/>
                </a:solidFill>
                <a:latin typeface="Libre Baskerville" pitchFamily="34" charset="0"/>
              </a:rPr>
              <a:t>Objective</a:t>
            </a:r>
            <a:endParaRPr lang="en-US" sz="325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C32AE7-9570-7439-B651-704C4B103612}"/>
              </a:ext>
            </a:extLst>
          </p:cNvPr>
          <p:cNvSpPr txBox="1"/>
          <p:nvPr/>
        </p:nvSpPr>
        <p:spPr>
          <a:xfrm>
            <a:off x="516401" y="4091186"/>
            <a:ext cx="967817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Develop a machine learning-based customer churn prediction model using the IBM Telco Customer Churn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err="1"/>
              <a:t>Analyze</a:t>
            </a:r>
            <a:r>
              <a:rPr lang="en-IN" sz="1600" dirty="0"/>
              <a:t> customer </a:t>
            </a:r>
            <a:r>
              <a:rPr lang="en-IN" sz="1600" dirty="0" err="1"/>
              <a:t>behavior</a:t>
            </a:r>
            <a:r>
              <a:rPr lang="en-IN" sz="1600" dirty="0"/>
              <a:t> and identify the key factors that influence churn through exploratory data analysis and feature engineering.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Compare the performance of Logistic Regression, Random Forest, and </a:t>
            </a:r>
            <a:r>
              <a:rPr lang="en-IN" sz="1600" dirty="0" err="1"/>
              <a:t>XGBoost</a:t>
            </a:r>
            <a:r>
              <a:rPr lang="en-IN" sz="1600" dirty="0"/>
              <a:t> models to determine the most effective prediction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Improve model transparency and interpretability using SHAP (</a:t>
            </a:r>
            <a:r>
              <a:rPr lang="en-IN" sz="1600" dirty="0" err="1"/>
              <a:t>SHapley</a:t>
            </a:r>
            <a:r>
              <a:rPr lang="en-IN" sz="1600" dirty="0"/>
              <a:t> Additive </a:t>
            </a:r>
            <a:r>
              <a:rPr lang="en-IN" sz="1600" dirty="0" err="1"/>
              <a:t>exPlanations</a:t>
            </a:r>
            <a:r>
              <a:rPr lang="en-IN" sz="16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Provide actionable business recommendations to help telecom companies reduce customer churn and improve retention.</a:t>
            </a:r>
            <a:endParaRPr lang="en-IN" sz="16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1266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Telco Customer Churn Dataset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661475" y="1279426"/>
            <a:ext cx="5374644" cy="792956"/>
          </a:xfrm>
          <a:prstGeom prst="roundRect">
            <a:avLst>
              <a:gd name="adj" fmla="val 7446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8315" y="1426270"/>
            <a:ext cx="5080964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Source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08315" y="1717477"/>
            <a:ext cx="5080964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Kaggle — IBM Telco Customer Churn Dataset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155576" y="1279426"/>
            <a:ext cx="5374644" cy="792956"/>
          </a:xfrm>
          <a:prstGeom prst="roundRect">
            <a:avLst>
              <a:gd name="adj" fmla="val 7446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2416" y="1426270"/>
            <a:ext cx="5080964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Records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302416" y="1717477"/>
            <a:ext cx="5080964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7,043</a:t>
            </a: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customers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61475" y="2191841"/>
            <a:ext cx="5374644" cy="792956"/>
          </a:xfrm>
          <a:prstGeom prst="roundRect">
            <a:avLst>
              <a:gd name="adj" fmla="val 7446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8315" y="2338685"/>
            <a:ext cx="5080964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8315" y="2629892"/>
            <a:ext cx="5080964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21</a:t>
            </a: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attributes per record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55576" y="2191841"/>
            <a:ext cx="5374644" cy="792956"/>
          </a:xfrm>
          <a:prstGeom prst="roundRect">
            <a:avLst>
              <a:gd name="adj" fmla="val 7446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2416" y="2338685"/>
            <a:ext cx="5080964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 Variable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302416" y="2629892"/>
            <a:ext cx="5080964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Churn — </a:t>
            </a: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Yes</a:t>
            </a: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/ </a:t>
            </a: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No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1475" y="3163987"/>
            <a:ext cx="1086874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Predictive Features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61475" y="3562747"/>
            <a:ext cx="5374644" cy="818356"/>
          </a:xfrm>
          <a:prstGeom prst="roundRect">
            <a:avLst>
              <a:gd name="adj" fmla="val 7215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1015" y="3722291"/>
            <a:ext cx="505556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Contract Type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1015" y="4013498"/>
            <a:ext cx="5055565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Month-to-month, one-year, two-year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55576" y="3562747"/>
            <a:ext cx="5374644" cy="818356"/>
          </a:xfrm>
          <a:prstGeom prst="roundRect">
            <a:avLst>
              <a:gd name="adj" fmla="val 7215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15115" y="3722291"/>
            <a:ext cx="505556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Tenure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315115" y="4013498"/>
            <a:ext cx="5055565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Number of months with the company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1475" y="4500563"/>
            <a:ext cx="5374644" cy="818356"/>
          </a:xfrm>
          <a:prstGeom prst="roundRect">
            <a:avLst>
              <a:gd name="adj" fmla="val 7215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1015" y="4660106"/>
            <a:ext cx="505556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Monthly Charges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1015" y="4951313"/>
            <a:ext cx="5055565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Amount billed per month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55576" y="4500563"/>
            <a:ext cx="5374644" cy="818356"/>
          </a:xfrm>
          <a:prstGeom prst="roundRect">
            <a:avLst>
              <a:gd name="adj" fmla="val 7215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15115" y="4660106"/>
            <a:ext cx="505556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Charges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315115" y="4951313"/>
            <a:ext cx="5055565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Cumulative billing amount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1475" y="5438378"/>
            <a:ext cx="5374644" cy="818356"/>
          </a:xfrm>
          <a:prstGeom prst="roundRect">
            <a:avLst>
              <a:gd name="adj" fmla="val 7215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1015" y="5597922"/>
            <a:ext cx="505556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Internet Service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21015" y="5889129"/>
            <a:ext cx="5055565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DSL, Fiber Optic, or None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55576" y="5438378"/>
            <a:ext cx="5374644" cy="818356"/>
          </a:xfrm>
          <a:prstGeom prst="roundRect">
            <a:avLst>
              <a:gd name="adj" fmla="val 7215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15115" y="5597922"/>
            <a:ext cx="505556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Payment Method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315115" y="5889129"/>
            <a:ext cx="5055565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Electronic check, mailed check, bank transfer, credit card</a:t>
            </a:r>
            <a:endParaRPr lang="en-US" sz="11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2559A12-E63D-7216-0C45-F37FD0DB5B1B}"/>
              </a:ext>
            </a:extLst>
          </p:cNvPr>
          <p:cNvSpPr/>
          <p:nvPr/>
        </p:nvSpPr>
        <p:spPr>
          <a:xfrm>
            <a:off x="10928395" y="6419461"/>
            <a:ext cx="1203649" cy="363894"/>
          </a:xfrm>
          <a:prstGeom prst="rect">
            <a:avLst/>
          </a:prstGeom>
          <a:solidFill>
            <a:srgbClr val="FFFDFA"/>
          </a:solidFill>
          <a:ln>
            <a:solidFill>
              <a:srgbClr val="FFFD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7727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Methodology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383903"/>
            <a:ext cx="10868745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endParaRPr lang="en-US" sz="1200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36A2509-1193-EB4C-965C-502D3AA60D77}"/>
              </a:ext>
            </a:extLst>
          </p:cNvPr>
          <p:cNvGrpSpPr/>
          <p:nvPr/>
        </p:nvGrpSpPr>
        <p:grpSpPr>
          <a:xfrm>
            <a:off x="661475" y="1695053"/>
            <a:ext cx="10868646" cy="4103489"/>
            <a:chOff x="661475" y="2042120"/>
            <a:chExt cx="10868646" cy="4103489"/>
          </a:xfrm>
        </p:grpSpPr>
        <p:sp>
          <p:nvSpPr>
            <p:cNvPr id="4" name="Text 2"/>
            <p:cNvSpPr/>
            <p:nvPr/>
          </p:nvSpPr>
          <p:spPr>
            <a:xfrm>
              <a:off x="661475" y="2042120"/>
              <a:ext cx="314218" cy="19635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200" dirty="0">
                  <a:solidFill>
                    <a:srgbClr val="45424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01</a:t>
              </a:r>
              <a:endParaRPr lang="en-US" sz="12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661475" y="2289969"/>
              <a:ext cx="3523368" cy="19050"/>
            </a:xfrm>
            <a:prstGeom prst="rect">
              <a:avLst/>
            </a:prstGeom>
            <a:solidFill>
              <a:srgbClr val="B88E23"/>
            </a:solidFill>
            <a:ln/>
          </p:spPr>
        </p:sp>
        <p:sp>
          <p:nvSpPr>
            <p:cNvPr id="6" name="Text 4"/>
            <p:cNvSpPr/>
            <p:nvPr/>
          </p:nvSpPr>
          <p:spPr>
            <a:xfrm>
              <a:off x="661475" y="2406551"/>
              <a:ext cx="3523368" cy="24556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500" dirty="0">
                  <a:solidFill>
                    <a:srgbClr val="45424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Dataset Collection</a:t>
              </a:r>
              <a:endParaRPr lang="en-US" sz="15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661475" y="2741613"/>
              <a:ext cx="3523368" cy="4903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ct val="130000"/>
                </a:lnSpc>
              </a:pPr>
              <a:r>
                <a:rPr lang="en-IN" sz="1200" dirty="0"/>
                <a:t>Collected the IBM Telco Customer Churn dataset from Kaggle.</a:t>
              </a:r>
              <a:endParaRPr lang="en-US" sz="12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334064" y="2042120"/>
              <a:ext cx="314218" cy="19635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200" dirty="0">
                  <a:solidFill>
                    <a:srgbClr val="45424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02</a:t>
              </a:r>
              <a:endParaRPr lang="en-US" sz="12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4334064" y="2289969"/>
              <a:ext cx="3523467" cy="19050"/>
            </a:xfrm>
            <a:prstGeom prst="rect">
              <a:avLst/>
            </a:prstGeom>
            <a:solidFill>
              <a:srgbClr val="B88E23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4334064" y="2406551"/>
              <a:ext cx="3523467" cy="24556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500" dirty="0">
                  <a:solidFill>
                    <a:srgbClr val="45424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Data Preprocessing</a:t>
              </a:r>
              <a:endParaRPr lang="en-US" sz="15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334064" y="2741613"/>
              <a:ext cx="3523467" cy="4903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92500"/>
            </a:bodyPr>
            <a:lstStyle/>
            <a:p>
              <a:pPr>
                <a:lnSpc>
                  <a:spcPct val="130000"/>
                </a:lnSpc>
              </a:pPr>
              <a:r>
                <a:rPr lang="en-IN" sz="1200" dirty="0"/>
                <a:t>Cleaned missing values, converted data types, encoded categorical features, and standardized numerical features.</a:t>
              </a:r>
              <a:endParaRPr lang="en-US" sz="12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8006753" y="2042120"/>
              <a:ext cx="314218" cy="19635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200" dirty="0">
                  <a:solidFill>
                    <a:srgbClr val="45424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03</a:t>
              </a:r>
              <a:endParaRPr lang="en-US" sz="12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8006753" y="2289969"/>
              <a:ext cx="3523368" cy="19050"/>
            </a:xfrm>
            <a:prstGeom prst="rect">
              <a:avLst/>
            </a:prstGeom>
            <a:solidFill>
              <a:srgbClr val="B88E23"/>
            </a:solidFill>
            <a:ln/>
          </p:spPr>
        </p:sp>
        <p:sp>
          <p:nvSpPr>
            <p:cNvPr id="14" name="Text 12"/>
            <p:cNvSpPr/>
            <p:nvPr/>
          </p:nvSpPr>
          <p:spPr>
            <a:xfrm>
              <a:off x="8006753" y="2406551"/>
              <a:ext cx="3523368" cy="24556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500" dirty="0">
                  <a:solidFill>
                    <a:srgbClr val="45424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Exploratory Data Analysis (EDA)</a:t>
              </a:r>
              <a:endParaRPr lang="en-US" sz="15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8006753" y="2741613"/>
              <a:ext cx="3523368" cy="4903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ct val="130000"/>
                </a:lnSpc>
              </a:pPr>
              <a:r>
                <a:rPr lang="en-IN" sz="1200" dirty="0" err="1"/>
                <a:t>Analyzed</a:t>
              </a:r>
              <a:r>
                <a:rPr lang="en-IN" sz="1200" dirty="0"/>
                <a:t> customer </a:t>
              </a:r>
              <a:r>
                <a:rPr lang="en-IN" sz="1200" dirty="0" err="1"/>
                <a:t>behavior</a:t>
              </a:r>
              <a:r>
                <a:rPr lang="en-IN" sz="1200" dirty="0"/>
                <a:t> and identified patterns influencing churn.</a:t>
              </a:r>
              <a:endParaRPr lang="en-US" sz="12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661475" y="3498949"/>
              <a:ext cx="314218" cy="19635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200" dirty="0">
                  <a:solidFill>
                    <a:srgbClr val="45424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04</a:t>
              </a:r>
              <a:endParaRPr lang="en-US" sz="12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661475" y="3746798"/>
              <a:ext cx="3523368" cy="19050"/>
            </a:xfrm>
            <a:prstGeom prst="rect">
              <a:avLst/>
            </a:prstGeom>
            <a:solidFill>
              <a:srgbClr val="B88E23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661475" y="3863380"/>
              <a:ext cx="3523368" cy="24556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500" dirty="0">
                  <a:solidFill>
                    <a:srgbClr val="45424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Feature Engineering</a:t>
              </a:r>
              <a:endParaRPr lang="en-US" sz="15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661475" y="4198441"/>
              <a:ext cx="3523368" cy="4903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ct val="130000"/>
                </a:lnSpc>
              </a:pPr>
              <a:r>
                <a:rPr lang="en-IN" sz="1200" dirty="0"/>
                <a:t>Selected and transformed important features to improve model performance.</a:t>
              </a:r>
              <a:endParaRPr lang="en-US" sz="12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4334064" y="3498949"/>
              <a:ext cx="314218" cy="19635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200" dirty="0">
                  <a:solidFill>
                    <a:srgbClr val="45424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05</a:t>
              </a:r>
              <a:endParaRPr lang="en-US" sz="12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4334064" y="3746798"/>
              <a:ext cx="3523467" cy="19050"/>
            </a:xfrm>
            <a:prstGeom prst="rect">
              <a:avLst/>
            </a:prstGeom>
            <a:solidFill>
              <a:srgbClr val="B88E23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4334064" y="3863380"/>
              <a:ext cx="3523467" cy="24556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500" dirty="0">
                  <a:solidFill>
                    <a:srgbClr val="45424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Model Training</a:t>
              </a:r>
              <a:endParaRPr lang="en-US" sz="15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4334064" y="4198441"/>
              <a:ext cx="3523467" cy="4903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ct val="130000"/>
                </a:lnSpc>
              </a:pPr>
              <a:r>
                <a:rPr lang="en-IN" sz="1200" dirty="0"/>
                <a:t>Trained Logistic Regression, Random Forest, and </a:t>
              </a:r>
              <a:r>
                <a:rPr lang="en-IN" sz="1200" dirty="0" err="1"/>
                <a:t>XGBoost</a:t>
              </a:r>
              <a:r>
                <a:rPr lang="en-IN" sz="1200" dirty="0"/>
                <a:t> models.</a:t>
              </a:r>
              <a:endParaRPr lang="en-US" sz="12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8006753" y="3498949"/>
              <a:ext cx="314218" cy="19635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200" dirty="0">
                  <a:solidFill>
                    <a:srgbClr val="45424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06</a:t>
              </a:r>
              <a:endParaRPr lang="en-US" sz="12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8006753" y="3746798"/>
              <a:ext cx="3523368" cy="19050"/>
            </a:xfrm>
            <a:prstGeom prst="rect">
              <a:avLst/>
            </a:prstGeom>
            <a:solidFill>
              <a:srgbClr val="B88E23"/>
            </a:solidFill>
            <a:ln/>
          </p:spPr>
        </p:sp>
        <p:sp>
          <p:nvSpPr>
            <p:cNvPr id="26" name="Text 24"/>
            <p:cNvSpPr/>
            <p:nvPr/>
          </p:nvSpPr>
          <p:spPr>
            <a:xfrm>
              <a:off x="8006753" y="3863380"/>
              <a:ext cx="3523368" cy="24556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500" dirty="0">
                  <a:solidFill>
                    <a:srgbClr val="45424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Hyperparameter Tuning</a:t>
              </a:r>
              <a:endParaRPr lang="en-US" sz="15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8006753" y="4198441"/>
              <a:ext cx="3523368" cy="4903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ct val="130000"/>
                </a:lnSpc>
              </a:pPr>
              <a:r>
                <a:rPr lang="en-IN" sz="1200" dirty="0"/>
                <a:t>Applied </a:t>
              </a:r>
              <a:r>
                <a:rPr lang="en-IN" sz="1200" dirty="0" err="1"/>
                <a:t>GridSearchCV</a:t>
              </a:r>
              <a:r>
                <a:rPr lang="en-IN" sz="1200" dirty="0"/>
                <a:t> with K-Fold Cross Validation to optimize model performance.</a:t>
              </a:r>
              <a:endParaRPr lang="en-US" sz="12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661475" y="4955778"/>
              <a:ext cx="314218" cy="19635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200" dirty="0">
                  <a:solidFill>
                    <a:srgbClr val="45424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07</a:t>
              </a:r>
              <a:endParaRPr lang="en-US" sz="12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661475" y="5203627"/>
              <a:ext cx="3523368" cy="19050"/>
            </a:xfrm>
            <a:prstGeom prst="rect">
              <a:avLst/>
            </a:prstGeom>
            <a:solidFill>
              <a:srgbClr val="B88E23"/>
            </a:solidFill>
            <a:ln/>
          </p:spPr>
        </p:sp>
        <p:sp>
          <p:nvSpPr>
            <p:cNvPr id="30" name="Text 28"/>
            <p:cNvSpPr/>
            <p:nvPr/>
          </p:nvSpPr>
          <p:spPr>
            <a:xfrm>
              <a:off x="661475" y="5320209"/>
              <a:ext cx="3523368" cy="24556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500" dirty="0">
                  <a:solidFill>
                    <a:srgbClr val="45424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Model Evaluation</a:t>
              </a:r>
              <a:endParaRPr lang="en-US" sz="15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661475" y="5655270"/>
              <a:ext cx="3523368" cy="4903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ct val="130000"/>
                </a:lnSpc>
              </a:pPr>
              <a:r>
                <a:rPr lang="en-IN" sz="1200" dirty="0"/>
                <a:t>Compared models using Accuracy, Precision, Recall, F1-Score, and ROC-AUC.</a:t>
              </a:r>
              <a:endParaRPr lang="en-US" sz="12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4334064" y="4955778"/>
              <a:ext cx="314218" cy="19635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200" dirty="0">
                  <a:solidFill>
                    <a:srgbClr val="45424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08</a:t>
              </a:r>
              <a:endParaRPr lang="en-US" sz="12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4334064" y="5203627"/>
              <a:ext cx="3523467" cy="19050"/>
            </a:xfrm>
            <a:prstGeom prst="rect">
              <a:avLst/>
            </a:prstGeom>
            <a:solidFill>
              <a:srgbClr val="B88E23"/>
            </a:solidFill>
            <a:ln/>
          </p:spPr>
        </p:sp>
        <p:sp>
          <p:nvSpPr>
            <p:cNvPr id="34" name="Text 32"/>
            <p:cNvSpPr/>
            <p:nvPr/>
          </p:nvSpPr>
          <p:spPr>
            <a:xfrm>
              <a:off x="4334064" y="5320209"/>
              <a:ext cx="3523467" cy="24556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500" dirty="0">
                  <a:solidFill>
                    <a:srgbClr val="45424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SHAP Explainability</a:t>
              </a:r>
              <a:endParaRPr lang="en-US" sz="15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4334064" y="5655270"/>
              <a:ext cx="3523467" cy="4903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ct val="130000"/>
                </a:lnSpc>
              </a:pPr>
              <a:r>
                <a:rPr lang="en-IN" sz="1200" dirty="0"/>
                <a:t>Used SHAP analysis to explain feature importance and prediction outcomes.</a:t>
              </a:r>
              <a:endParaRPr lang="en-US" sz="12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8006753" y="4955778"/>
              <a:ext cx="314218" cy="19635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200" dirty="0">
                  <a:solidFill>
                    <a:srgbClr val="45424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09</a:t>
              </a:r>
              <a:endParaRPr lang="en-US" sz="12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8006753" y="5203627"/>
              <a:ext cx="3523368" cy="19050"/>
            </a:xfrm>
            <a:prstGeom prst="rect">
              <a:avLst/>
            </a:prstGeom>
            <a:solidFill>
              <a:srgbClr val="B88E23"/>
            </a:solidFill>
            <a:ln/>
          </p:spPr>
        </p:sp>
        <p:sp>
          <p:nvSpPr>
            <p:cNvPr id="38" name="Text 36"/>
            <p:cNvSpPr/>
            <p:nvPr/>
          </p:nvSpPr>
          <p:spPr>
            <a:xfrm>
              <a:off x="8006753" y="5320209"/>
              <a:ext cx="3523368" cy="24556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500" dirty="0">
                  <a:solidFill>
                    <a:srgbClr val="45424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Deployment</a:t>
              </a:r>
              <a:endParaRPr lang="en-US" sz="15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8006753" y="5655270"/>
              <a:ext cx="3523368" cy="4903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ct val="130000"/>
                </a:lnSpc>
              </a:pPr>
              <a:r>
                <a:rPr lang="en-IN" sz="1200" dirty="0"/>
                <a:t>Developed a </a:t>
              </a:r>
              <a:r>
                <a:rPr lang="en-IN" sz="1200" dirty="0" err="1"/>
                <a:t>Streamlit</a:t>
              </a:r>
              <a:r>
                <a:rPr lang="en-IN" sz="1200" dirty="0"/>
                <a:t> web application and REST API for real-time churn prediction.</a:t>
              </a:r>
              <a:endParaRPr lang="en-US" sz="1200" dirty="0"/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FF058847-B867-D410-93E8-613A18F6F0B3}"/>
              </a:ext>
            </a:extLst>
          </p:cNvPr>
          <p:cNvSpPr/>
          <p:nvPr/>
        </p:nvSpPr>
        <p:spPr>
          <a:xfrm>
            <a:off x="10928395" y="6419461"/>
            <a:ext cx="1203649" cy="363894"/>
          </a:xfrm>
          <a:prstGeom prst="rect">
            <a:avLst/>
          </a:prstGeom>
          <a:solidFill>
            <a:srgbClr val="FFFDFA"/>
          </a:solidFill>
          <a:ln>
            <a:solidFill>
              <a:srgbClr val="FFFD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9503"/>
            <a:ext cx="10868745" cy="406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Preprocessing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145679"/>
            <a:ext cx="5834809" cy="9832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894" y="1294904"/>
            <a:ext cx="546016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 Handling 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886894" y="1600895"/>
            <a:ext cx="5460169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Identified missing values in the </a:t>
            </a:r>
            <a:r>
              <a:rPr lang="en-IN" sz="1200" b="1" dirty="0" err="1"/>
              <a:t>TotalCharges</a:t>
            </a:r>
            <a:r>
              <a:rPr lang="en-IN" sz="1200" dirty="0"/>
              <a:t> column.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Handled missing values to ensure data quality.</a:t>
            </a: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231430"/>
            <a:ext cx="5834809" cy="98325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86894" y="2380655"/>
            <a:ext cx="546016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IN" sz="1400" dirty="0"/>
              <a:t>Data Transformation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886894" y="2686645"/>
            <a:ext cx="5460169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71450" indent="-171450">
              <a:lnSpc>
                <a:spcPct val="119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highlight>
                  <a:srgbClr val="F2F0ED"/>
                </a:highlight>
              </a:rPr>
              <a:t>Converted </a:t>
            </a:r>
            <a:r>
              <a:rPr lang="en-IN" sz="1200" b="1" dirty="0" err="1">
                <a:highlight>
                  <a:srgbClr val="F2F0ED"/>
                </a:highlight>
              </a:rPr>
              <a:t>TotalCharges</a:t>
            </a:r>
            <a:r>
              <a:rPr lang="en-IN" sz="1200" dirty="0">
                <a:highlight>
                  <a:srgbClr val="F2F0ED"/>
                </a:highlight>
              </a:rPr>
              <a:t> from string to numeric format.</a:t>
            </a:r>
          </a:p>
          <a:p>
            <a:pPr marL="171450" indent="-171450">
              <a:lnSpc>
                <a:spcPct val="119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highlight>
                  <a:srgbClr val="F2F0ED"/>
                </a:highlight>
              </a:rPr>
              <a:t>Corrected data types for accurate analysis.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317180"/>
            <a:ext cx="5834809" cy="9769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86894" y="3466405"/>
            <a:ext cx="546016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IN" sz="1400" dirty="0"/>
              <a:t>Feature Encoding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886894" y="3772396"/>
            <a:ext cx="5460169" cy="372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9000"/>
              </a:lnSpc>
            </a:pPr>
            <a:r>
              <a:rPr lang="en-IN" sz="1200" dirty="0"/>
              <a:t>Applied </a:t>
            </a:r>
            <a:r>
              <a:rPr lang="en-IN" sz="1200" b="1" dirty="0"/>
              <a:t>One-Hot Encoding</a:t>
            </a:r>
            <a:r>
              <a:rPr lang="en-IN" sz="1200" dirty="0"/>
              <a:t> to categorical features such as Contract Type, Internet Service, and Payment Method.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396581"/>
            <a:ext cx="5834809" cy="98325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86894" y="4545806"/>
            <a:ext cx="546016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1400" dirty="0"/>
              <a:t>Feature Scaling</a:t>
            </a:r>
          </a:p>
        </p:txBody>
      </p:sp>
      <p:sp>
        <p:nvSpPr>
          <p:cNvPr id="14" name="Text 8"/>
          <p:cNvSpPr/>
          <p:nvPr/>
        </p:nvSpPr>
        <p:spPr>
          <a:xfrm>
            <a:off x="886894" y="4851797"/>
            <a:ext cx="5460169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9000"/>
              </a:lnSpc>
            </a:pPr>
            <a:r>
              <a:rPr lang="en-IN" sz="1200" dirty="0">
                <a:highlight>
                  <a:srgbClr val="F2F0ED"/>
                </a:highlight>
              </a:rPr>
              <a:t>Standardized numerical features (</a:t>
            </a:r>
            <a:r>
              <a:rPr lang="en-IN" sz="1200" b="1" dirty="0">
                <a:highlight>
                  <a:srgbClr val="F2F0ED"/>
                </a:highlight>
              </a:rPr>
              <a:t>Tenure, </a:t>
            </a:r>
            <a:r>
              <a:rPr lang="en-IN" sz="1200" b="1" dirty="0" err="1">
                <a:highlight>
                  <a:srgbClr val="F2F0ED"/>
                </a:highlight>
              </a:rPr>
              <a:t>MonthlyCharges</a:t>
            </a:r>
            <a:r>
              <a:rPr lang="en-IN" sz="1200" b="1" dirty="0">
                <a:highlight>
                  <a:srgbClr val="F2F0ED"/>
                </a:highlight>
              </a:rPr>
              <a:t>, </a:t>
            </a:r>
            <a:r>
              <a:rPr lang="en-IN" sz="1200" b="1" dirty="0" err="1">
                <a:highlight>
                  <a:srgbClr val="F2F0ED"/>
                </a:highlight>
              </a:rPr>
              <a:t>TotalCharges</a:t>
            </a:r>
            <a:r>
              <a:rPr lang="en-IN" sz="1200" dirty="0">
                <a:highlight>
                  <a:srgbClr val="F2F0ED"/>
                </a:highlight>
              </a:rPr>
              <a:t>) using </a:t>
            </a:r>
            <a:r>
              <a:rPr lang="en-IN" sz="1200" b="1" dirty="0" err="1">
                <a:highlight>
                  <a:srgbClr val="F2F0ED"/>
                </a:highlight>
              </a:rPr>
              <a:t>StandardScaler</a:t>
            </a:r>
            <a:r>
              <a:rPr lang="en-IN" sz="1200" dirty="0">
                <a:highlight>
                  <a:srgbClr val="F2F0ED"/>
                </a:highlight>
              </a:rPr>
              <a:t>.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5482332"/>
            <a:ext cx="5834809" cy="79067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86894" y="5631557"/>
            <a:ext cx="546016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Train / Test Split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886894" y="5937548"/>
            <a:ext cx="5460169" cy="18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9000"/>
              </a:lnSpc>
            </a:pPr>
            <a:r>
              <a:rPr lang="en-IN" sz="1200" dirty="0"/>
              <a:t>Split the dataset into </a:t>
            </a:r>
            <a:r>
              <a:rPr lang="en-IN" sz="1200" b="1" dirty="0"/>
              <a:t>80% training</a:t>
            </a:r>
            <a:r>
              <a:rPr lang="en-IN" sz="1200" dirty="0"/>
              <a:t> and </a:t>
            </a:r>
            <a:r>
              <a:rPr lang="en-IN" sz="1200" b="1" dirty="0"/>
              <a:t>20% testing</a:t>
            </a:r>
            <a:r>
              <a:rPr lang="en-IN" sz="1200" dirty="0"/>
              <a:t> sets using stratified sampling.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7697497" y="1774849"/>
            <a:ext cx="4162916" cy="558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endParaRPr lang="en-US" sz="1000" dirty="0"/>
          </a:p>
        </p:txBody>
      </p:sp>
      <p:sp>
        <p:nvSpPr>
          <p:cNvPr id="21" name="Text 13"/>
          <p:cNvSpPr/>
          <p:nvPr/>
        </p:nvSpPr>
        <p:spPr>
          <a:xfrm>
            <a:off x="6572482" y="5491062"/>
            <a:ext cx="3772897" cy="42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80%</a:t>
            </a:r>
            <a:endParaRPr lang="en-US" sz="3350" dirty="0"/>
          </a:p>
        </p:txBody>
      </p:sp>
      <p:sp>
        <p:nvSpPr>
          <p:cNvPr id="22" name="Text 14"/>
          <p:cNvSpPr/>
          <p:nvPr/>
        </p:nvSpPr>
        <p:spPr>
          <a:xfrm>
            <a:off x="6095847" y="5957512"/>
            <a:ext cx="4716146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Training Data</a:t>
            </a:r>
            <a:endParaRPr lang="en-US" sz="1250" dirty="0"/>
          </a:p>
        </p:txBody>
      </p:sp>
      <p:sp>
        <p:nvSpPr>
          <p:cNvPr id="24" name="Text 16"/>
          <p:cNvSpPr/>
          <p:nvPr/>
        </p:nvSpPr>
        <p:spPr>
          <a:xfrm>
            <a:off x="8717315" y="5476531"/>
            <a:ext cx="3772897" cy="42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20%</a:t>
            </a:r>
            <a:endParaRPr lang="en-US" sz="3350" dirty="0"/>
          </a:p>
        </p:txBody>
      </p:sp>
      <p:sp>
        <p:nvSpPr>
          <p:cNvPr id="25" name="Text 17"/>
          <p:cNvSpPr/>
          <p:nvPr/>
        </p:nvSpPr>
        <p:spPr>
          <a:xfrm>
            <a:off x="8245690" y="5938836"/>
            <a:ext cx="4716146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Test Data</a:t>
            </a:r>
            <a:endParaRPr lang="en-US" sz="125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BEBB11A-D25B-ED5A-6E02-48C5537E2D7F}"/>
              </a:ext>
            </a:extLst>
          </p:cNvPr>
          <p:cNvSpPr/>
          <p:nvPr/>
        </p:nvSpPr>
        <p:spPr>
          <a:xfrm>
            <a:off x="10928395" y="6419461"/>
            <a:ext cx="1203649" cy="363894"/>
          </a:xfrm>
          <a:prstGeom prst="rect">
            <a:avLst/>
          </a:prstGeom>
          <a:solidFill>
            <a:srgbClr val="FFFDFA"/>
          </a:solidFill>
          <a:ln>
            <a:solidFill>
              <a:srgbClr val="FFFD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98830DF-38E6-1C67-C0A9-4F5B7D844C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2760" y="1125696"/>
            <a:ext cx="4725016" cy="3987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6830" y="13954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Exploratory Data Analysis</a:t>
            </a:r>
            <a:endParaRPr lang="en-US" sz="325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7512D2D-F3FF-6F9C-89AA-5C3889BB8326}"/>
              </a:ext>
            </a:extLst>
          </p:cNvPr>
          <p:cNvGrpSpPr/>
          <p:nvPr/>
        </p:nvGrpSpPr>
        <p:grpSpPr>
          <a:xfrm>
            <a:off x="581903" y="802333"/>
            <a:ext cx="3512653" cy="1759446"/>
            <a:chOff x="581903" y="802333"/>
            <a:chExt cx="3512653" cy="1759446"/>
          </a:xfrm>
        </p:grpSpPr>
        <p:sp>
          <p:nvSpPr>
            <p:cNvPr id="3" name="Shape 1"/>
            <p:cNvSpPr/>
            <p:nvPr/>
          </p:nvSpPr>
          <p:spPr>
            <a:xfrm>
              <a:off x="581903" y="802333"/>
              <a:ext cx="3512653" cy="1759446"/>
            </a:xfrm>
            <a:prstGeom prst="roundRect">
              <a:avLst>
                <a:gd name="adj" fmla="val 3948"/>
              </a:avLst>
            </a:prstGeom>
            <a:solidFill>
              <a:srgbClr val="F7EDD4"/>
            </a:solidFill>
            <a:ln w="6350">
              <a:solidFill>
                <a:srgbClr val="DDD3BA"/>
              </a:solidFill>
              <a:prstDash val="solid"/>
            </a:ln>
          </p:spPr>
        </p:sp>
        <p:sp>
          <p:nvSpPr>
            <p:cNvPr id="4" name="Text 2"/>
            <p:cNvSpPr/>
            <p:nvPr/>
          </p:nvSpPr>
          <p:spPr>
            <a:xfrm>
              <a:off x="753547" y="973981"/>
              <a:ext cx="3169364" cy="25846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00" dirty="0">
                  <a:solidFill>
                    <a:srgbClr val="45424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Contract Type</a:t>
              </a:r>
              <a:endParaRPr lang="en-US" sz="16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753547" y="1331665"/>
              <a:ext cx="3169364" cy="10584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ct val="133000"/>
                </a:lnSpc>
              </a:pPr>
              <a:r>
                <a:rPr lang="en-IN" sz="1400" dirty="0"/>
                <a:t>Customers with </a:t>
              </a:r>
              <a:r>
                <a:rPr lang="en-IN" sz="1400" b="1" dirty="0"/>
                <a:t>Month-to-Month</a:t>
              </a:r>
              <a:r>
                <a:rPr lang="en-IN" sz="1400" dirty="0"/>
                <a:t> contracts had the highest churn rate.</a:t>
              </a:r>
              <a:endParaRPr lang="en-US" sz="13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1DFCDAB-482D-B972-959E-661B1F86F96F}"/>
              </a:ext>
            </a:extLst>
          </p:cNvPr>
          <p:cNvGrpSpPr/>
          <p:nvPr/>
        </p:nvGrpSpPr>
        <p:grpSpPr>
          <a:xfrm>
            <a:off x="4333071" y="802333"/>
            <a:ext cx="3512752" cy="1759446"/>
            <a:chOff x="4333071" y="802333"/>
            <a:chExt cx="3512752" cy="1759446"/>
          </a:xfrm>
        </p:grpSpPr>
        <p:sp>
          <p:nvSpPr>
            <p:cNvPr id="6" name="Shape 4"/>
            <p:cNvSpPr/>
            <p:nvPr/>
          </p:nvSpPr>
          <p:spPr>
            <a:xfrm>
              <a:off x="4333071" y="802333"/>
              <a:ext cx="3512752" cy="1759446"/>
            </a:xfrm>
            <a:prstGeom prst="roundRect">
              <a:avLst>
                <a:gd name="adj" fmla="val 3948"/>
              </a:avLst>
            </a:prstGeom>
            <a:solidFill>
              <a:srgbClr val="F7EDD4"/>
            </a:solidFill>
            <a:ln w="6350">
              <a:solidFill>
                <a:srgbClr val="DDD3BA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4504715" y="973981"/>
              <a:ext cx="3169464" cy="25846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00" dirty="0">
                  <a:solidFill>
                    <a:srgbClr val="45424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Monthly Charges</a:t>
              </a:r>
              <a:endParaRPr lang="en-US" sz="16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504715" y="1331665"/>
              <a:ext cx="3169464" cy="7938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ct val="133000"/>
                </a:lnSpc>
              </a:pPr>
              <a:r>
                <a:rPr lang="en-IN" sz="1400" dirty="0"/>
                <a:t>Customers with higher monthly charges were more likely to churn.</a:t>
              </a:r>
              <a:endParaRPr lang="en-US" sz="13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505B96F-4330-29D3-30BD-82F293FAD7DB}"/>
              </a:ext>
            </a:extLst>
          </p:cNvPr>
          <p:cNvGrpSpPr/>
          <p:nvPr/>
        </p:nvGrpSpPr>
        <p:grpSpPr>
          <a:xfrm>
            <a:off x="8108449" y="808879"/>
            <a:ext cx="3512653" cy="1759446"/>
            <a:chOff x="8017468" y="1558032"/>
            <a:chExt cx="3512653" cy="1759446"/>
          </a:xfrm>
        </p:grpSpPr>
        <p:sp>
          <p:nvSpPr>
            <p:cNvPr id="9" name="Shape 7"/>
            <p:cNvSpPr/>
            <p:nvPr/>
          </p:nvSpPr>
          <p:spPr>
            <a:xfrm>
              <a:off x="8017468" y="1558032"/>
              <a:ext cx="3512653" cy="1759446"/>
            </a:xfrm>
            <a:prstGeom prst="roundRect">
              <a:avLst>
                <a:gd name="adj" fmla="val 3948"/>
              </a:avLst>
            </a:prstGeom>
            <a:solidFill>
              <a:srgbClr val="F7EDD4"/>
            </a:solidFill>
            <a:ln w="6350">
              <a:solidFill>
                <a:srgbClr val="DDD3BA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8189112" y="1729680"/>
              <a:ext cx="3169364" cy="25846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00" dirty="0">
                  <a:solidFill>
                    <a:srgbClr val="45424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Tenure</a:t>
              </a:r>
              <a:endParaRPr lang="en-US" sz="1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8189112" y="2087364"/>
              <a:ext cx="3169364" cy="7938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ct val="133000"/>
                </a:lnSpc>
              </a:pPr>
              <a:r>
                <a:rPr lang="en-IN" sz="1400" dirty="0"/>
                <a:t>Customers with shorter tenure showed a significantly higher risk of churn.</a:t>
              </a:r>
              <a:endParaRPr lang="en-US" sz="1300" dirty="0"/>
            </a:p>
          </p:txBody>
        </p:sp>
      </p:grpSp>
      <p:sp>
        <p:nvSpPr>
          <p:cNvPr id="12" name="Text 10"/>
          <p:cNvSpPr/>
          <p:nvPr/>
        </p:nvSpPr>
        <p:spPr>
          <a:xfrm>
            <a:off x="580712" y="271437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Charts 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98731" y="4448175"/>
            <a:ext cx="2650959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230305" y="4586783"/>
            <a:ext cx="2650959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725277" y="4448175"/>
            <a:ext cx="2650959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E69AA4-87A3-C5BB-4A63-84DD35A451EE}"/>
              </a:ext>
            </a:extLst>
          </p:cNvPr>
          <p:cNvSpPr/>
          <p:nvPr/>
        </p:nvSpPr>
        <p:spPr>
          <a:xfrm>
            <a:off x="10928395" y="6419461"/>
            <a:ext cx="1203649" cy="363894"/>
          </a:xfrm>
          <a:prstGeom prst="rect">
            <a:avLst/>
          </a:prstGeom>
          <a:solidFill>
            <a:srgbClr val="FFFDFA"/>
          </a:solidFill>
          <a:ln>
            <a:solidFill>
              <a:srgbClr val="FFFD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3FE33C0-07E2-415B-3ABD-5ADD949F4B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205" y="3125444"/>
            <a:ext cx="3512653" cy="3345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FF07059-4110-86AF-3AFB-9E48E012EA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3714" y="2972844"/>
            <a:ext cx="3947022" cy="3497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308238E-58EF-BAB1-34FE-D7A2F62384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60" y="3044880"/>
            <a:ext cx="4041854" cy="34194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4" y="702908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Machine Learning Models</a:t>
            </a:r>
            <a:endParaRPr lang="en-US" sz="290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021459C-CA92-FE66-3C79-37267D420048}"/>
              </a:ext>
            </a:extLst>
          </p:cNvPr>
          <p:cNvGrpSpPr/>
          <p:nvPr/>
        </p:nvGrpSpPr>
        <p:grpSpPr>
          <a:xfrm>
            <a:off x="651841" y="1301992"/>
            <a:ext cx="10868646" cy="2108498"/>
            <a:chOff x="661475" y="1948954"/>
            <a:chExt cx="10868646" cy="2108498"/>
          </a:xfrm>
        </p:grpSpPr>
        <p:sp>
          <p:nvSpPr>
            <p:cNvPr id="4" name="Shape 2"/>
            <p:cNvSpPr/>
            <p:nvPr/>
          </p:nvSpPr>
          <p:spPr>
            <a:xfrm>
              <a:off x="661475" y="1948954"/>
              <a:ext cx="3533587" cy="2108498"/>
            </a:xfrm>
            <a:prstGeom prst="roundRect">
              <a:avLst>
                <a:gd name="adj" fmla="val 2965"/>
              </a:avLst>
            </a:prstGeom>
            <a:solidFill>
              <a:srgbClr val="F7EDD4"/>
            </a:solidFill>
            <a:ln w="6350">
              <a:solidFill>
                <a:srgbClr val="DDD3BA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>
              <a:off x="816649" y="2104132"/>
              <a:ext cx="446473" cy="446484"/>
            </a:xfrm>
            <a:prstGeom prst="ellipse">
              <a:avLst/>
            </a:prstGeom>
            <a:solidFill>
              <a:srgbClr val="B88E23"/>
            </a:solidFill>
            <a:ln/>
          </p:spPr>
        </p:sp>
        <p:pic>
          <p:nvPicPr>
            <p:cNvPr id="6" name="Image 0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9380" y="2226866"/>
              <a:ext cx="200913" cy="200918"/>
            </a:xfrm>
            <a:prstGeom prst="rect">
              <a:avLst/>
            </a:prstGeom>
          </p:spPr>
        </p:pic>
        <p:sp>
          <p:nvSpPr>
            <p:cNvPr id="7" name="Text 4"/>
            <p:cNvSpPr/>
            <p:nvPr/>
          </p:nvSpPr>
          <p:spPr>
            <a:xfrm>
              <a:off x="816649" y="2684562"/>
              <a:ext cx="3223239" cy="2324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ct val="104000"/>
                </a:lnSpc>
              </a:pPr>
              <a:r>
                <a:rPr lang="en-US" sz="1450" dirty="0">
                  <a:solidFill>
                    <a:srgbClr val="45424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Logistic Regression</a:t>
              </a:r>
              <a:endParaRPr lang="en-US" sz="145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816649" y="2997398"/>
              <a:ext cx="3223239" cy="9048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ct val="127000"/>
                </a:lnSpc>
              </a:pPr>
              <a:r>
                <a:rPr lang="en-IN" sz="1400" dirty="0"/>
                <a:t>Simple and interpretable baseline model for binary classification</a:t>
              </a:r>
              <a:endParaRPr lang="en-US" sz="1400" dirty="0"/>
            </a:p>
          </p:txBody>
        </p:sp>
        <p:sp>
          <p:nvSpPr>
            <p:cNvPr id="9" name="Shape 6"/>
            <p:cNvSpPr/>
            <p:nvPr/>
          </p:nvSpPr>
          <p:spPr>
            <a:xfrm>
              <a:off x="4329004" y="1948954"/>
              <a:ext cx="3533587" cy="2108498"/>
            </a:xfrm>
            <a:prstGeom prst="roundRect">
              <a:avLst>
                <a:gd name="adj" fmla="val 2965"/>
              </a:avLst>
            </a:prstGeom>
            <a:solidFill>
              <a:srgbClr val="F7EDD4"/>
            </a:solidFill>
            <a:ln w="6350">
              <a:solidFill>
                <a:srgbClr val="DDD3BA"/>
              </a:solidFill>
              <a:prstDash val="solid"/>
            </a:ln>
          </p:spPr>
        </p:sp>
        <p:sp>
          <p:nvSpPr>
            <p:cNvPr id="10" name="Shape 7"/>
            <p:cNvSpPr/>
            <p:nvPr/>
          </p:nvSpPr>
          <p:spPr>
            <a:xfrm>
              <a:off x="4484178" y="2104132"/>
              <a:ext cx="446473" cy="446484"/>
            </a:xfrm>
            <a:prstGeom prst="ellipse">
              <a:avLst/>
            </a:prstGeom>
            <a:solidFill>
              <a:srgbClr val="B88E23"/>
            </a:solidFill>
            <a:ln/>
          </p:spPr>
        </p:sp>
        <p:pic>
          <p:nvPicPr>
            <p:cNvPr id="11" name="Image 1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606909" y="2226866"/>
              <a:ext cx="200913" cy="200918"/>
            </a:xfrm>
            <a:prstGeom prst="rect">
              <a:avLst/>
            </a:prstGeom>
          </p:spPr>
        </p:pic>
        <p:sp>
          <p:nvSpPr>
            <p:cNvPr id="12" name="Text 8"/>
            <p:cNvSpPr/>
            <p:nvPr/>
          </p:nvSpPr>
          <p:spPr>
            <a:xfrm>
              <a:off x="4484178" y="2684562"/>
              <a:ext cx="3223239" cy="2324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450" dirty="0">
                  <a:solidFill>
                    <a:srgbClr val="45424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Random Forest</a:t>
              </a:r>
              <a:endParaRPr lang="en-US" sz="1450" dirty="0"/>
            </a:p>
          </p:txBody>
        </p:sp>
        <p:sp>
          <p:nvSpPr>
            <p:cNvPr id="13" name="Text 9"/>
            <p:cNvSpPr/>
            <p:nvPr/>
          </p:nvSpPr>
          <p:spPr>
            <a:xfrm>
              <a:off x="4484178" y="2997398"/>
              <a:ext cx="3223239" cy="6786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ct val="127000"/>
                </a:lnSpc>
              </a:pPr>
              <a:r>
                <a:rPr lang="en-IN" sz="1400" dirty="0"/>
                <a:t>Ensemble learning model capable of capturing complex relationships in the data.</a:t>
              </a:r>
              <a:endParaRPr lang="en-US" sz="1400" dirty="0"/>
            </a:p>
          </p:txBody>
        </p:sp>
        <p:sp>
          <p:nvSpPr>
            <p:cNvPr id="14" name="Shape 10"/>
            <p:cNvSpPr/>
            <p:nvPr/>
          </p:nvSpPr>
          <p:spPr>
            <a:xfrm>
              <a:off x="7996534" y="1948954"/>
              <a:ext cx="3533587" cy="2108498"/>
            </a:xfrm>
            <a:prstGeom prst="roundRect">
              <a:avLst>
                <a:gd name="adj" fmla="val 2965"/>
              </a:avLst>
            </a:prstGeom>
            <a:solidFill>
              <a:srgbClr val="F7EDD4"/>
            </a:solidFill>
            <a:ln w="6350">
              <a:solidFill>
                <a:srgbClr val="DDD3BA"/>
              </a:solidFill>
              <a:prstDash val="solid"/>
            </a:ln>
          </p:spPr>
        </p:sp>
        <p:sp>
          <p:nvSpPr>
            <p:cNvPr id="15" name="Shape 11"/>
            <p:cNvSpPr/>
            <p:nvPr/>
          </p:nvSpPr>
          <p:spPr>
            <a:xfrm>
              <a:off x="8151708" y="2104132"/>
              <a:ext cx="446473" cy="446484"/>
            </a:xfrm>
            <a:prstGeom prst="ellipse">
              <a:avLst/>
            </a:prstGeom>
            <a:solidFill>
              <a:srgbClr val="B88E23"/>
            </a:solidFill>
            <a:ln/>
          </p:spPr>
        </p:sp>
        <p:pic>
          <p:nvPicPr>
            <p:cNvPr id="16" name="Image 2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74438" y="2226866"/>
              <a:ext cx="200913" cy="200918"/>
            </a:xfrm>
            <a:prstGeom prst="rect">
              <a:avLst/>
            </a:prstGeom>
          </p:spPr>
        </p:pic>
        <p:sp>
          <p:nvSpPr>
            <p:cNvPr id="17" name="Text 12"/>
            <p:cNvSpPr/>
            <p:nvPr/>
          </p:nvSpPr>
          <p:spPr>
            <a:xfrm>
              <a:off x="8151708" y="2684562"/>
              <a:ext cx="3223239" cy="2324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450" dirty="0">
                  <a:solidFill>
                    <a:srgbClr val="45424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XGBoost</a:t>
              </a:r>
              <a:endParaRPr lang="en-US" sz="1450" dirty="0"/>
            </a:p>
          </p:txBody>
        </p:sp>
        <p:sp>
          <p:nvSpPr>
            <p:cNvPr id="18" name="Text 13"/>
            <p:cNvSpPr/>
            <p:nvPr/>
          </p:nvSpPr>
          <p:spPr>
            <a:xfrm>
              <a:off x="8151708" y="2997398"/>
              <a:ext cx="3223239" cy="9048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ct val="127000"/>
                </a:lnSpc>
              </a:pPr>
              <a:r>
                <a:rPr lang="en-IN" sz="1400" dirty="0"/>
                <a:t>Gradient boosting algorithm known for high predictive performance and robustness.</a:t>
              </a:r>
              <a:endParaRPr lang="en-US" sz="1400" dirty="0"/>
            </a:p>
          </p:txBody>
        </p:sp>
      </p:grpSp>
      <p:sp>
        <p:nvSpPr>
          <p:cNvPr id="19" name="Text 14"/>
          <p:cNvSpPr/>
          <p:nvPr/>
        </p:nvSpPr>
        <p:spPr>
          <a:xfrm>
            <a:off x="661475" y="4258370"/>
            <a:ext cx="1086874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45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7A8E6F8-168D-AAB5-E32F-E709A3AF9771}"/>
              </a:ext>
            </a:extLst>
          </p:cNvPr>
          <p:cNvSpPr/>
          <p:nvPr/>
        </p:nvSpPr>
        <p:spPr>
          <a:xfrm>
            <a:off x="10928395" y="6419461"/>
            <a:ext cx="1203649" cy="363894"/>
          </a:xfrm>
          <a:prstGeom prst="rect">
            <a:avLst/>
          </a:prstGeom>
          <a:solidFill>
            <a:srgbClr val="FFFDFA"/>
          </a:solidFill>
          <a:ln>
            <a:solidFill>
              <a:srgbClr val="FFFD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93F8047-59ED-B0E7-55C5-825724D2BD42}"/>
              </a:ext>
            </a:extLst>
          </p:cNvPr>
          <p:cNvSpPr txBox="1"/>
          <p:nvPr/>
        </p:nvSpPr>
        <p:spPr>
          <a:xfrm>
            <a:off x="651842" y="4175433"/>
            <a:ext cx="6097554" cy="315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endParaRPr lang="en-US" sz="145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70216D2-82B9-1C7E-C484-EC7C44F7DD29}"/>
              </a:ext>
            </a:extLst>
          </p:cNvPr>
          <p:cNvGrpSpPr/>
          <p:nvPr/>
        </p:nvGrpSpPr>
        <p:grpSpPr>
          <a:xfrm>
            <a:off x="651842" y="4224792"/>
            <a:ext cx="10899558" cy="2116940"/>
            <a:chOff x="661475" y="1948954"/>
            <a:chExt cx="10899558" cy="2116940"/>
          </a:xfrm>
        </p:grpSpPr>
        <p:sp>
          <p:nvSpPr>
            <p:cNvPr id="37" name="Shape 2">
              <a:extLst>
                <a:ext uri="{FF2B5EF4-FFF2-40B4-BE49-F238E27FC236}">
                  <a16:creationId xmlns:a16="http://schemas.microsoft.com/office/drawing/2014/main" id="{B2D00280-A9B1-3B7F-CF6B-1A3ED3924B00}"/>
                </a:ext>
              </a:extLst>
            </p:cNvPr>
            <p:cNvSpPr/>
            <p:nvPr/>
          </p:nvSpPr>
          <p:spPr>
            <a:xfrm>
              <a:off x="661475" y="1948954"/>
              <a:ext cx="3533587" cy="2108498"/>
            </a:xfrm>
            <a:prstGeom prst="roundRect">
              <a:avLst>
                <a:gd name="adj" fmla="val 2965"/>
              </a:avLst>
            </a:prstGeom>
            <a:solidFill>
              <a:srgbClr val="F7EDD4"/>
            </a:solidFill>
            <a:ln w="6350">
              <a:solidFill>
                <a:srgbClr val="DDD3BA"/>
              </a:solidFill>
              <a:prstDash val="solid"/>
            </a:ln>
          </p:spPr>
        </p:sp>
        <p:sp>
          <p:nvSpPr>
            <p:cNvPr id="40" name="Text 4">
              <a:extLst>
                <a:ext uri="{FF2B5EF4-FFF2-40B4-BE49-F238E27FC236}">
                  <a16:creationId xmlns:a16="http://schemas.microsoft.com/office/drawing/2014/main" id="{F67B1608-87BC-B036-8A17-F6622B32BD2C}"/>
                </a:ext>
              </a:extLst>
            </p:cNvPr>
            <p:cNvSpPr/>
            <p:nvPr/>
          </p:nvSpPr>
          <p:spPr>
            <a:xfrm>
              <a:off x="816647" y="2358595"/>
              <a:ext cx="3223239" cy="2324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ct val="104000"/>
                </a:lnSpc>
              </a:pPr>
              <a:r>
                <a:rPr lang="en-US" sz="1450" dirty="0" err="1">
                  <a:solidFill>
                    <a:srgbClr val="45424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GridSearchCV</a:t>
              </a:r>
              <a:endParaRPr lang="en-US" sz="1450" dirty="0"/>
            </a:p>
          </p:txBody>
        </p:sp>
        <p:sp>
          <p:nvSpPr>
            <p:cNvPr id="41" name="Text 5">
              <a:extLst>
                <a:ext uri="{FF2B5EF4-FFF2-40B4-BE49-F238E27FC236}">
                  <a16:creationId xmlns:a16="http://schemas.microsoft.com/office/drawing/2014/main" id="{23670985-D751-B9FB-DC53-90AC0057302D}"/>
                </a:ext>
              </a:extLst>
            </p:cNvPr>
            <p:cNvSpPr/>
            <p:nvPr/>
          </p:nvSpPr>
          <p:spPr>
            <a:xfrm>
              <a:off x="836319" y="2800797"/>
              <a:ext cx="3223239" cy="9048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ct val="127000"/>
                </a:lnSpc>
              </a:pPr>
              <a:r>
                <a:rPr lang="en-IN" sz="1400" dirty="0"/>
                <a:t>Optimized model hyperparameters to improve predictive performance.</a:t>
              </a:r>
              <a:endParaRPr lang="en-US" sz="1400" dirty="0"/>
            </a:p>
          </p:txBody>
        </p:sp>
        <p:sp>
          <p:nvSpPr>
            <p:cNvPr id="42" name="Shape 6">
              <a:extLst>
                <a:ext uri="{FF2B5EF4-FFF2-40B4-BE49-F238E27FC236}">
                  <a16:creationId xmlns:a16="http://schemas.microsoft.com/office/drawing/2014/main" id="{CA6E4DAF-8B13-CB79-0465-870DBF74875A}"/>
                </a:ext>
              </a:extLst>
            </p:cNvPr>
            <p:cNvSpPr/>
            <p:nvPr/>
          </p:nvSpPr>
          <p:spPr>
            <a:xfrm>
              <a:off x="4329004" y="1948954"/>
              <a:ext cx="3533587" cy="2108498"/>
            </a:xfrm>
            <a:prstGeom prst="roundRect">
              <a:avLst>
                <a:gd name="adj" fmla="val 2965"/>
              </a:avLst>
            </a:prstGeom>
            <a:solidFill>
              <a:srgbClr val="F7EDD4"/>
            </a:solidFill>
            <a:ln w="6350">
              <a:solidFill>
                <a:srgbClr val="DDD3BA"/>
              </a:solidFill>
              <a:prstDash val="solid"/>
            </a:ln>
          </p:spPr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D23E61D0-DDBB-AE0D-23FE-4506703E64A1}"/>
                </a:ext>
              </a:extLst>
            </p:cNvPr>
            <p:cNvSpPr/>
            <p:nvPr/>
          </p:nvSpPr>
          <p:spPr>
            <a:xfrm>
              <a:off x="4493859" y="2417367"/>
              <a:ext cx="3223239" cy="2324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450" dirty="0">
                  <a:solidFill>
                    <a:srgbClr val="45424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K-Fold Cross Validation</a:t>
              </a:r>
              <a:endParaRPr lang="en-US" sz="1450" dirty="0"/>
            </a:p>
          </p:txBody>
        </p:sp>
        <p:sp>
          <p:nvSpPr>
            <p:cNvPr id="46" name="Text 9">
              <a:extLst>
                <a:ext uri="{FF2B5EF4-FFF2-40B4-BE49-F238E27FC236}">
                  <a16:creationId xmlns:a16="http://schemas.microsoft.com/office/drawing/2014/main" id="{EC633F38-C46F-6055-7B28-166348F92994}"/>
                </a:ext>
              </a:extLst>
            </p:cNvPr>
            <p:cNvSpPr/>
            <p:nvPr/>
          </p:nvSpPr>
          <p:spPr>
            <a:xfrm>
              <a:off x="4484176" y="2830229"/>
              <a:ext cx="3223239" cy="6786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ct val="127000"/>
                </a:lnSpc>
              </a:pPr>
              <a:r>
                <a:rPr lang="en-IN" sz="1400" dirty="0"/>
                <a:t>Ensured reliable evaluation and minimized overfitting.</a:t>
              </a:r>
              <a:endParaRPr lang="en-US" sz="1400" dirty="0"/>
            </a:p>
          </p:txBody>
        </p:sp>
        <p:sp>
          <p:nvSpPr>
            <p:cNvPr id="47" name="Shape 10">
              <a:extLst>
                <a:ext uri="{FF2B5EF4-FFF2-40B4-BE49-F238E27FC236}">
                  <a16:creationId xmlns:a16="http://schemas.microsoft.com/office/drawing/2014/main" id="{16F53F92-F191-A4EB-A582-4BC7D7A7B3DB}"/>
                </a:ext>
              </a:extLst>
            </p:cNvPr>
            <p:cNvSpPr/>
            <p:nvPr/>
          </p:nvSpPr>
          <p:spPr>
            <a:xfrm>
              <a:off x="8027446" y="1957396"/>
              <a:ext cx="3533587" cy="2108498"/>
            </a:xfrm>
            <a:prstGeom prst="roundRect">
              <a:avLst>
                <a:gd name="adj" fmla="val 2965"/>
              </a:avLst>
            </a:prstGeom>
            <a:solidFill>
              <a:srgbClr val="F7EDD4"/>
            </a:solidFill>
            <a:ln w="6350">
              <a:solidFill>
                <a:srgbClr val="DDD3BA"/>
              </a:solidFill>
              <a:prstDash val="solid"/>
            </a:ln>
          </p:spPr>
        </p:sp>
        <p:sp>
          <p:nvSpPr>
            <p:cNvPr id="50" name="Text 12">
              <a:extLst>
                <a:ext uri="{FF2B5EF4-FFF2-40B4-BE49-F238E27FC236}">
                  <a16:creationId xmlns:a16="http://schemas.microsoft.com/office/drawing/2014/main" id="{73DE61D5-03FF-3DCA-D19C-D11874C00CC3}"/>
                </a:ext>
              </a:extLst>
            </p:cNvPr>
            <p:cNvSpPr/>
            <p:nvPr/>
          </p:nvSpPr>
          <p:spPr>
            <a:xfrm>
              <a:off x="8151708" y="2423212"/>
              <a:ext cx="3223239" cy="2324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450" dirty="0">
                  <a:solidFill>
                    <a:srgbClr val="454240"/>
                  </a:solidFill>
                  <a:latin typeface="Libre Baskerville" pitchFamily="34" charset="0"/>
                </a:rPr>
                <a:t>Hyperparameter Tuning</a:t>
              </a:r>
              <a:endParaRPr lang="en-US" sz="1450" dirty="0"/>
            </a:p>
          </p:txBody>
        </p:sp>
        <p:sp>
          <p:nvSpPr>
            <p:cNvPr id="51" name="Text 13">
              <a:extLst>
                <a:ext uri="{FF2B5EF4-FFF2-40B4-BE49-F238E27FC236}">
                  <a16:creationId xmlns:a16="http://schemas.microsoft.com/office/drawing/2014/main" id="{289E8D63-F585-9730-4AA5-2CE22EA3825C}"/>
                </a:ext>
              </a:extLst>
            </p:cNvPr>
            <p:cNvSpPr/>
            <p:nvPr/>
          </p:nvSpPr>
          <p:spPr>
            <a:xfrm>
              <a:off x="8151708" y="2848527"/>
              <a:ext cx="3223239" cy="9048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ct val="127000"/>
                </a:lnSpc>
              </a:pPr>
              <a:r>
                <a:rPr lang="en-IN" sz="1400" dirty="0"/>
                <a:t>Fine-Tuned Random Forest and </a:t>
              </a:r>
              <a:r>
                <a:rPr lang="en-IN" sz="1400" dirty="0" err="1"/>
                <a:t>XGBoost</a:t>
              </a:r>
              <a:r>
                <a:rPr lang="en-IN" sz="1400" dirty="0"/>
                <a:t> for better accuracy.</a:t>
              </a:r>
              <a:endParaRPr lang="en-US" sz="1400" dirty="0"/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17670387-6645-EE2E-CD4F-CAB1775722A0}"/>
              </a:ext>
            </a:extLst>
          </p:cNvPr>
          <p:cNvSpPr txBox="1"/>
          <p:nvPr/>
        </p:nvSpPr>
        <p:spPr>
          <a:xfrm>
            <a:off x="492190" y="3563543"/>
            <a:ext cx="6097554" cy="538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Model Optimization</a:t>
            </a:r>
            <a:endParaRPr lang="en-US" sz="2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9618" y="780355"/>
            <a:ext cx="6607072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Results &amp; Model Comparison</a:t>
            </a:r>
            <a:endParaRPr lang="en-US" sz="325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089237A-96E3-5FD6-4B5A-1EC1143ACE79}"/>
              </a:ext>
            </a:extLst>
          </p:cNvPr>
          <p:cNvGrpSpPr/>
          <p:nvPr/>
        </p:nvGrpSpPr>
        <p:grpSpPr>
          <a:xfrm>
            <a:off x="501663" y="1735494"/>
            <a:ext cx="6607072" cy="4749282"/>
            <a:chOff x="661475" y="2635250"/>
            <a:chExt cx="6233559" cy="3559473"/>
          </a:xfrm>
        </p:grpSpPr>
        <p:sp>
          <p:nvSpPr>
            <p:cNvPr id="3" name="Text 1"/>
            <p:cNvSpPr/>
            <p:nvPr/>
          </p:nvSpPr>
          <p:spPr>
            <a:xfrm>
              <a:off x="887653" y="2727424"/>
              <a:ext cx="5796214" cy="10584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endParaRPr lang="en-US" sz="1300" dirty="0"/>
            </a:p>
          </p:txBody>
        </p:sp>
        <p:sp>
          <p:nvSpPr>
            <p:cNvPr id="4" name="Shape 2"/>
            <p:cNvSpPr/>
            <p:nvPr/>
          </p:nvSpPr>
          <p:spPr>
            <a:xfrm>
              <a:off x="661475" y="2635250"/>
              <a:ext cx="5796214" cy="2463998"/>
            </a:xfrm>
            <a:prstGeom prst="roundRect">
              <a:avLst>
                <a:gd name="adj" fmla="val 2819"/>
              </a:avLst>
            </a:prstGeom>
            <a:noFill/>
            <a:ln w="6350">
              <a:solidFill>
                <a:srgbClr val="000000">
                  <a:alpha val="8000"/>
                </a:srgbClr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>
              <a:off x="661475" y="3120529"/>
              <a:ext cx="5796214" cy="10337"/>
            </a:xfrm>
            <a:prstGeom prst="rect">
              <a:avLst/>
            </a:prstGeom>
            <a:solidFill>
              <a:srgbClr val="000000">
                <a:alpha val="8000"/>
              </a:srgbClr>
            </a:solidFill>
            <a:ln/>
          </p:spPr>
        </p:sp>
        <p:sp>
          <p:nvSpPr>
            <p:cNvPr id="6" name="Shape 4"/>
            <p:cNvSpPr/>
            <p:nvPr/>
          </p:nvSpPr>
          <p:spPr>
            <a:xfrm>
              <a:off x="661475" y="3867249"/>
              <a:ext cx="5796214" cy="10337"/>
            </a:xfrm>
            <a:prstGeom prst="rect">
              <a:avLst/>
            </a:prstGeom>
            <a:solidFill>
              <a:srgbClr val="000000">
                <a:alpha val="8000"/>
              </a:srgbClr>
            </a:solidFill>
            <a:ln/>
          </p:spPr>
        </p:sp>
        <p:sp>
          <p:nvSpPr>
            <p:cNvPr id="7" name="Shape 5"/>
            <p:cNvSpPr/>
            <p:nvPr/>
          </p:nvSpPr>
          <p:spPr>
            <a:xfrm>
              <a:off x="661475" y="4613970"/>
              <a:ext cx="5796214" cy="10337"/>
            </a:xfrm>
            <a:prstGeom prst="rect">
              <a:avLst/>
            </a:prstGeom>
            <a:solidFill>
              <a:srgbClr val="000000">
                <a:alpha val="8000"/>
              </a:srgbClr>
            </a:solidFill>
            <a:ln/>
          </p:spPr>
        </p:sp>
        <p:sp>
          <p:nvSpPr>
            <p:cNvPr id="8" name="Shape 6"/>
            <p:cNvSpPr/>
            <p:nvPr/>
          </p:nvSpPr>
          <p:spPr>
            <a:xfrm>
              <a:off x="668618" y="2641600"/>
              <a:ext cx="1927375" cy="478929"/>
            </a:xfrm>
            <a:prstGeom prst="rect">
              <a:avLst/>
            </a:prstGeom>
            <a:solidFill>
              <a:srgbClr val="B88E23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833913" y="2747169"/>
              <a:ext cx="2206371" cy="26461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300" b="1" dirty="0">
                  <a:solidFill>
                    <a:srgbClr val="272525"/>
                  </a:solidFill>
                  <a:latin typeface="DM Sans Bold" pitchFamily="34" charset="0"/>
                  <a:ea typeface="DM Sans Bold" pitchFamily="34" charset="-122"/>
                  <a:cs typeface="DM Sans Bold" pitchFamily="34" charset="-120"/>
                </a:rPr>
                <a:t>Model</a:t>
              </a:r>
              <a:endParaRPr lang="en-US" sz="13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2595994" y="2641600"/>
              <a:ext cx="1927375" cy="478929"/>
            </a:xfrm>
            <a:prstGeom prst="rect">
              <a:avLst/>
            </a:prstGeom>
            <a:solidFill>
              <a:srgbClr val="B88E23"/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2761288" y="2747169"/>
              <a:ext cx="2206371" cy="26461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300" b="1" dirty="0">
                  <a:solidFill>
                    <a:srgbClr val="272525"/>
                  </a:solidFill>
                  <a:latin typeface="DM Sans Bold" pitchFamily="34" charset="0"/>
                  <a:ea typeface="DM Sans Bold" pitchFamily="34" charset="-122"/>
                  <a:cs typeface="DM Sans Bold" pitchFamily="34" charset="-120"/>
                </a:rPr>
                <a:t>Accuracy</a:t>
              </a:r>
              <a:endParaRPr lang="en-US" sz="13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4523369" y="2641600"/>
              <a:ext cx="1927375" cy="478929"/>
            </a:xfrm>
            <a:prstGeom prst="rect">
              <a:avLst/>
            </a:prstGeom>
            <a:solidFill>
              <a:srgbClr val="B88E23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4688663" y="2747169"/>
              <a:ext cx="2206371" cy="26461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300" b="1" dirty="0">
                  <a:solidFill>
                    <a:srgbClr val="272525"/>
                  </a:solidFill>
                  <a:latin typeface="DM Sans Bold" pitchFamily="34" charset="0"/>
                  <a:ea typeface="DM Sans Bold" pitchFamily="34" charset="-122"/>
                  <a:cs typeface="DM Sans Bold" pitchFamily="34" charset="-120"/>
                </a:rPr>
                <a:t>ROC-AUC</a:t>
              </a:r>
              <a:endParaRPr lang="en-US" sz="13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833913" y="3229273"/>
              <a:ext cx="1596787" cy="5292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300" b="1" dirty="0">
                  <a:solidFill>
                    <a:srgbClr val="B88E23"/>
                  </a:solidFill>
                  <a:latin typeface="DM Sans Bold" pitchFamily="34" charset="0"/>
                  <a:ea typeface="DM Sans Bold" pitchFamily="34" charset="-122"/>
                  <a:cs typeface="DM Sans Bold" pitchFamily="34" charset="-120"/>
                </a:rPr>
                <a:t>Logistic Regression </a:t>
              </a:r>
              <a:endParaRPr lang="en-US" sz="13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2761288" y="3229273"/>
              <a:ext cx="2206371" cy="26461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300" dirty="0">
                  <a:solidFill>
                    <a:srgbClr val="45424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73.81%</a:t>
              </a:r>
              <a:endParaRPr lang="en-US" sz="13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688663" y="3229273"/>
              <a:ext cx="2206371" cy="26461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300" b="1" dirty="0">
                  <a:solidFill>
                    <a:srgbClr val="454240"/>
                  </a:solidFill>
                  <a:latin typeface="DM Sans Bold" pitchFamily="34" charset="0"/>
                  <a:ea typeface="DM Sans Bold" pitchFamily="34" charset="-122"/>
                  <a:cs typeface="DM Sans Bold" pitchFamily="34" charset="-120"/>
                </a:rPr>
                <a:t>84.61%</a:t>
              </a:r>
              <a:endParaRPr lang="en-US" sz="13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833913" y="3975993"/>
              <a:ext cx="1596787" cy="5292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300" dirty="0">
                  <a:solidFill>
                    <a:srgbClr val="45424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Tuned Random Forest</a:t>
              </a:r>
              <a:endParaRPr lang="en-US" sz="13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2761288" y="3975993"/>
              <a:ext cx="2206371" cy="26461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300" dirty="0">
                  <a:solidFill>
                    <a:srgbClr val="45424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75.30%</a:t>
              </a:r>
              <a:endParaRPr lang="en-US" sz="13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4688663" y="3975993"/>
              <a:ext cx="2206371" cy="26461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300" dirty="0">
                  <a:solidFill>
                    <a:srgbClr val="45424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83.99%</a:t>
              </a:r>
              <a:endParaRPr lang="en-US" sz="13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833913" y="4722713"/>
              <a:ext cx="2206371" cy="26461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300" dirty="0">
                  <a:solidFill>
                    <a:srgbClr val="45424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Tuned XGBoost</a:t>
              </a:r>
              <a:endParaRPr lang="en-US" sz="13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2761288" y="4722713"/>
              <a:ext cx="2206371" cy="26461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300" dirty="0">
                  <a:solidFill>
                    <a:srgbClr val="45424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74.38%</a:t>
              </a:r>
              <a:endParaRPr lang="en-US" sz="13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4688663" y="4722713"/>
              <a:ext cx="2206371" cy="26461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300" dirty="0">
                  <a:solidFill>
                    <a:srgbClr val="45424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84.43%</a:t>
              </a:r>
              <a:endParaRPr lang="en-US" sz="13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661475" y="5285284"/>
              <a:ext cx="5796214" cy="909439"/>
            </a:xfrm>
            <a:prstGeom prst="roundRect">
              <a:avLst>
                <a:gd name="adj" fmla="val 7638"/>
              </a:avLst>
            </a:prstGeom>
            <a:solidFill>
              <a:srgbClr val="F7EDD4"/>
            </a:solidFill>
            <a:ln/>
          </p:spPr>
        </p:sp>
        <p:sp>
          <p:nvSpPr>
            <p:cNvPr id="25" name="Text 22"/>
            <p:cNvSpPr/>
            <p:nvPr/>
          </p:nvSpPr>
          <p:spPr>
            <a:xfrm>
              <a:off x="833913" y="5360691"/>
              <a:ext cx="5404741" cy="5292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400" b="1" dirty="0">
                  <a:solidFill>
                    <a:srgbClr val="000000"/>
                  </a:solidFill>
                  <a:latin typeface="DM Sans Bold" pitchFamily="34" charset="0"/>
                  <a:ea typeface="DM Sans Bold" pitchFamily="34" charset="-122"/>
                  <a:cs typeface="DM Sans Bold" pitchFamily="34" charset="-120"/>
                </a:rPr>
                <a:t>Final Selected Model:</a:t>
              </a:r>
              <a:r>
                <a:rPr lang="en-US" sz="1400" dirty="0">
                  <a:solidFill>
                    <a:srgbClr val="00000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IN" sz="1400" dirty="0"/>
                <a:t>Highest ROC-AUC (</a:t>
              </a:r>
              <a:r>
                <a:rPr lang="en-IN" sz="1400" b="1" dirty="0"/>
                <a:t>84.61%</a:t>
              </a:r>
              <a:r>
                <a:rPr lang="en-IN" sz="1400" dirty="0"/>
                <a:t>) 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IN" sz="1400" dirty="0"/>
                <a:t>Reliable churn prediction performance 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IN" sz="1400" dirty="0"/>
                <a:t>Easy to interpret and deploy 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IN" sz="1400" dirty="0"/>
                <a:t>Suitable for binary classification problems</a:t>
              </a:r>
              <a:endParaRPr lang="en-US" sz="1400" dirty="0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A8DFD813-97CE-BDC7-2E49-A5067611B447}"/>
              </a:ext>
            </a:extLst>
          </p:cNvPr>
          <p:cNvSpPr/>
          <p:nvPr/>
        </p:nvSpPr>
        <p:spPr>
          <a:xfrm>
            <a:off x="10928395" y="6419461"/>
            <a:ext cx="1203649" cy="363894"/>
          </a:xfrm>
          <a:prstGeom prst="rect">
            <a:avLst/>
          </a:prstGeom>
          <a:solidFill>
            <a:srgbClr val="FFFDFA"/>
          </a:solidFill>
          <a:ln>
            <a:solidFill>
              <a:srgbClr val="FFFD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D5DB1957-BCBC-8930-A874-4B9B388401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3165" y="477143"/>
            <a:ext cx="4740019" cy="3087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5FC6A24-5D0C-5E71-2097-3AB2DF5A8C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3165" y="3758506"/>
            <a:ext cx="4740019" cy="2940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6957" y="497432"/>
            <a:ext cx="10868745" cy="315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Model Interpretability Using SHAP</a:t>
            </a:r>
            <a:endParaRPr lang="en-US" sz="195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D130C2B-A3A0-1794-E2E5-2CCB83CD1614}"/>
              </a:ext>
            </a:extLst>
          </p:cNvPr>
          <p:cNvGrpSpPr/>
          <p:nvPr/>
        </p:nvGrpSpPr>
        <p:grpSpPr>
          <a:xfrm>
            <a:off x="297580" y="1173714"/>
            <a:ext cx="6075227" cy="4022847"/>
            <a:chOff x="661475" y="964307"/>
            <a:chExt cx="5311444" cy="1544801"/>
          </a:xfrm>
        </p:grpSpPr>
        <p:pic>
          <p:nvPicPr>
            <p:cNvPr id="3" name="Image 0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1475" y="964307"/>
              <a:ext cx="5311444" cy="705247"/>
            </a:xfrm>
            <a:prstGeom prst="rect">
              <a:avLst/>
            </a:prstGeom>
          </p:spPr>
        </p:pic>
        <p:sp>
          <p:nvSpPr>
            <p:cNvPr id="4" name="Text 1"/>
            <p:cNvSpPr/>
            <p:nvPr/>
          </p:nvSpPr>
          <p:spPr>
            <a:xfrm>
              <a:off x="825678" y="1104810"/>
              <a:ext cx="5033837" cy="1574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00" dirty="0">
                  <a:solidFill>
                    <a:srgbClr val="45424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What is SHAP?</a:t>
              </a:r>
              <a:endParaRPr lang="en-US" sz="1600" dirty="0"/>
            </a:p>
          </p:txBody>
        </p:sp>
        <p:sp>
          <p:nvSpPr>
            <p:cNvPr id="5" name="Text 2"/>
            <p:cNvSpPr/>
            <p:nvPr/>
          </p:nvSpPr>
          <p:spPr>
            <a:xfrm>
              <a:off x="825678" y="1285857"/>
              <a:ext cx="5033837" cy="2595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07000"/>
                </a:lnSpc>
              </a:pPr>
              <a:r>
                <a:rPr lang="en-IN" sz="1400" dirty="0"/>
                <a:t>SHAP (Shapley Additive explanations) is an Explainable AI technique that interprets machine learning predictions by measuring the contribution of each feature to the model's output.</a:t>
              </a:r>
              <a:endParaRPr lang="en-US" sz="1400" dirty="0"/>
            </a:p>
          </p:txBody>
        </p:sp>
        <p:pic>
          <p:nvPicPr>
            <p:cNvPr id="6" name="Image 1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1475" y="1803861"/>
              <a:ext cx="5311444" cy="705247"/>
            </a:xfrm>
            <a:prstGeom prst="rect">
              <a:avLst/>
            </a:prstGeom>
          </p:spPr>
        </p:pic>
        <p:sp>
          <p:nvSpPr>
            <p:cNvPr id="7" name="Text 3"/>
            <p:cNvSpPr/>
            <p:nvPr/>
          </p:nvSpPr>
          <p:spPr>
            <a:xfrm>
              <a:off x="880474" y="1919622"/>
              <a:ext cx="5033837" cy="1574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00" dirty="0">
                  <a:solidFill>
                    <a:srgbClr val="45424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Why SHAP?</a:t>
              </a:r>
              <a:endParaRPr lang="en-US" sz="1600" dirty="0"/>
            </a:p>
          </p:txBody>
        </p:sp>
        <p:sp>
          <p:nvSpPr>
            <p:cNvPr id="8" name="Text 4"/>
            <p:cNvSpPr/>
            <p:nvPr/>
          </p:nvSpPr>
          <p:spPr>
            <a:xfrm>
              <a:off x="880474" y="2092762"/>
              <a:ext cx="5033837" cy="2595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07000"/>
                </a:lnSpc>
              </a:pPr>
              <a:r>
                <a:rPr lang="en-IN" sz="1400" dirty="0"/>
                <a:t>Explains how individual features influence model predictions. Improves model transparency and interpretability. Helps identify the key factors driving customer churn. Supports data-driven business decision-making and customer retention strategies.</a:t>
              </a:r>
              <a:endParaRPr lang="en-US" sz="1400" dirty="0"/>
            </a:p>
          </p:txBody>
        </p:sp>
      </p:grpSp>
      <p:sp>
        <p:nvSpPr>
          <p:cNvPr id="12" name="Text 7"/>
          <p:cNvSpPr/>
          <p:nvPr/>
        </p:nvSpPr>
        <p:spPr>
          <a:xfrm>
            <a:off x="297580" y="5471930"/>
            <a:ext cx="5311444" cy="163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297580" y="5542595"/>
            <a:ext cx="5311444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endParaRPr lang="en-IN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6D8BF19-B3EF-EF3C-56C0-9B0C29551E6F}"/>
              </a:ext>
            </a:extLst>
          </p:cNvPr>
          <p:cNvSpPr/>
          <p:nvPr/>
        </p:nvSpPr>
        <p:spPr>
          <a:xfrm>
            <a:off x="10928395" y="6419461"/>
            <a:ext cx="1203649" cy="363894"/>
          </a:xfrm>
          <a:prstGeom prst="rect">
            <a:avLst/>
          </a:prstGeom>
          <a:solidFill>
            <a:srgbClr val="FFFDFA"/>
          </a:solidFill>
          <a:ln>
            <a:solidFill>
              <a:srgbClr val="FFFD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F70BD938-AC3E-E8D4-6C8E-06CBD1D138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4807" y="1173714"/>
            <a:ext cx="5311445" cy="457571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489A5740-D158-7A89-6E2A-408F3C7641BF}"/>
              </a:ext>
            </a:extLst>
          </p:cNvPr>
          <p:cNvSpPr txBox="1"/>
          <p:nvPr/>
        </p:nvSpPr>
        <p:spPr>
          <a:xfrm>
            <a:off x="209770" y="5926098"/>
            <a:ext cx="10868745" cy="543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IN" sz="1400" dirty="0"/>
              <a:t>The SHAP summary plot highlights the relative importance of features influencing customer churn, enabling better understanding of the model's predictions.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2">
            <a:extLst>
              <a:ext uri="{FF2B5EF4-FFF2-40B4-BE49-F238E27FC236}">
                <a16:creationId xmlns:a16="http://schemas.microsoft.com/office/drawing/2014/main" id="{6CC493F5-9DFC-40B3-3E83-3440C19537F7}"/>
              </a:ext>
            </a:extLst>
          </p:cNvPr>
          <p:cNvSpPr/>
          <p:nvPr/>
        </p:nvSpPr>
        <p:spPr>
          <a:xfrm>
            <a:off x="566235" y="1894144"/>
            <a:ext cx="5644066" cy="3801806"/>
          </a:xfrm>
          <a:prstGeom prst="roundRect">
            <a:avLst>
              <a:gd name="adj" fmla="val 2965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1185555" y="1027877"/>
            <a:ext cx="543452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Recommendations 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064591" y="1639689"/>
            <a:ext cx="543844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90256" y="2126584"/>
            <a:ext cx="5262870" cy="3046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85750" indent="-285750">
              <a:lnSpc>
                <a:spcPct val="117000"/>
              </a:lnSpc>
              <a:buFont typeface="Arial" panose="020B0604020202020204" pitchFamily="34" charset="0"/>
              <a:buChar char="•"/>
            </a:pPr>
            <a:r>
              <a:rPr lang="en-IN" dirty="0"/>
              <a:t>Encourage customers to switch from month-to-month plans to long-term contracts through attractive offers.</a:t>
            </a:r>
          </a:p>
          <a:p>
            <a:pPr marL="285750" indent="-285750">
              <a:lnSpc>
                <a:spcPct val="117000"/>
              </a:lnSpc>
              <a:buFont typeface="Arial" panose="020B0604020202020204" pitchFamily="34" charset="0"/>
              <a:buChar char="•"/>
            </a:pPr>
            <a:r>
              <a:rPr lang="en-IN" dirty="0"/>
              <a:t>Provide personalized discounts and loyalty rewards to customers identified as having a high churn risk.</a:t>
            </a:r>
          </a:p>
          <a:p>
            <a:pPr marL="285750" indent="-285750">
              <a:lnSpc>
                <a:spcPct val="117000"/>
              </a:lnSpc>
              <a:buFont typeface="Arial" panose="020B0604020202020204" pitchFamily="34" charset="0"/>
              <a:buChar char="•"/>
            </a:pPr>
            <a:r>
              <a:rPr lang="en-IN" dirty="0"/>
              <a:t>Improve the quality of Fiber Optic services and strengthen customer support to enhance satisfaction.</a:t>
            </a:r>
          </a:p>
          <a:p>
            <a:pPr marL="285750" indent="-285750">
              <a:lnSpc>
                <a:spcPct val="117000"/>
              </a:lnSpc>
              <a:buFont typeface="Arial" panose="020B0604020202020204" pitchFamily="34" charset="0"/>
              <a:buChar char="•"/>
            </a:pPr>
            <a:r>
              <a:rPr lang="en-IN" dirty="0"/>
              <a:t>Use AI-driven churn predictions to launch timely and targeted customer retention campaigns.</a:t>
            </a:r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3A5CD2A-4498-3B45-2EFD-2D4C26B3B679}"/>
              </a:ext>
            </a:extLst>
          </p:cNvPr>
          <p:cNvSpPr/>
          <p:nvPr/>
        </p:nvSpPr>
        <p:spPr>
          <a:xfrm>
            <a:off x="10928395" y="6419461"/>
            <a:ext cx="1203649" cy="363894"/>
          </a:xfrm>
          <a:prstGeom prst="rect">
            <a:avLst/>
          </a:prstGeom>
          <a:solidFill>
            <a:srgbClr val="FFFDFA"/>
          </a:solidFill>
          <a:ln>
            <a:solidFill>
              <a:srgbClr val="FFFD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CE99FE6-7F1C-3A1F-45CF-BB486975DB36}"/>
              </a:ext>
            </a:extLst>
          </p:cNvPr>
          <p:cNvSpPr txBox="1"/>
          <p:nvPr/>
        </p:nvSpPr>
        <p:spPr>
          <a:xfrm>
            <a:off x="8149141" y="1046035"/>
            <a:ext cx="3476625" cy="461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Conclusion </a:t>
            </a:r>
            <a:endParaRPr lang="en-US" sz="2400" dirty="0"/>
          </a:p>
        </p:txBody>
      </p:sp>
      <p:sp>
        <p:nvSpPr>
          <p:cNvPr id="39" name="Shape 2">
            <a:extLst>
              <a:ext uri="{FF2B5EF4-FFF2-40B4-BE49-F238E27FC236}">
                <a16:creationId xmlns:a16="http://schemas.microsoft.com/office/drawing/2014/main" id="{F4F83407-2C40-28AF-DAC7-1EFA6F7FAD46}"/>
              </a:ext>
            </a:extLst>
          </p:cNvPr>
          <p:cNvSpPr/>
          <p:nvPr/>
        </p:nvSpPr>
        <p:spPr>
          <a:xfrm>
            <a:off x="6503032" y="1894143"/>
            <a:ext cx="5360564" cy="3801806"/>
          </a:xfrm>
          <a:prstGeom prst="roundRect">
            <a:avLst>
              <a:gd name="adj" fmla="val 2965"/>
            </a:avLst>
          </a:prstGeom>
          <a:solidFill>
            <a:srgbClr val="F7EDD4"/>
          </a:solidFill>
          <a:ln w="6350">
            <a:solidFill>
              <a:srgbClr val="DDD3BA"/>
            </a:solidFill>
            <a:prstDash val="solid"/>
          </a:ln>
        </p:spPr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BD1F3E6-A5F1-9C4C-B15F-AF06F8417251}"/>
              </a:ext>
            </a:extLst>
          </p:cNvPr>
          <p:cNvSpPr txBox="1"/>
          <p:nvPr/>
        </p:nvSpPr>
        <p:spPr>
          <a:xfrm>
            <a:off x="6715431" y="2098654"/>
            <a:ext cx="491033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Developed an end-to-end machine learning solution for predicting customer churn in the telecom industry.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Logistic Regression was selected as the final model, achieving the highest </a:t>
            </a:r>
            <a:r>
              <a:rPr lang="en-IN" b="1" dirty="0"/>
              <a:t>ROC-AUC of 84.61%</a:t>
            </a:r>
            <a:r>
              <a:rPr lang="en-IN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SHAP analysis improved model transparency by explaining the key factors influencing churn predictions.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proposed solution can help telecom companies proactively retain customers and improve long-term business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894</Words>
  <Application>Microsoft Office PowerPoint</Application>
  <PresentationFormat>Widescreen</PresentationFormat>
  <Paragraphs>148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DM Sans Bold</vt:lpstr>
      <vt:lpstr>DM Sans</vt:lpstr>
      <vt:lpstr>Libre Baskerville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Sisira TS</cp:lastModifiedBy>
  <cp:revision>7</cp:revision>
  <dcterms:created xsi:type="dcterms:W3CDTF">2026-07-19T14:53:54Z</dcterms:created>
  <dcterms:modified xsi:type="dcterms:W3CDTF">2026-07-19T16:31:40Z</dcterms:modified>
</cp:coreProperties>
</file>